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4078485"/>
            <a:ext cx="2476500" cy="819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4078485"/>
            <a:ext cx="2476500" cy="819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4078485"/>
            <a:ext cx="2476500" cy="819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968" y="1960215"/>
            <a:ext cx="3548062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5535" y="2465040"/>
            <a:ext cx="7440930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64E3B"/>
                </a:solidFill>
                <a:latin typeface="Poppins"/>
              </a:rPr>
              <a:t>AI Smart Agriculture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7075" y="3221235"/>
            <a:ext cx="56578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047857"/>
                </a:solidFill>
                <a:latin typeface="Lato"/>
              </a:rPr>
              <a:t>Integrating Relays, Sensors, and Edge-AI Controller on STM32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3625" y="4268985"/>
            <a:ext cx="2000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oppins SemiBold"/>
              </a:rPr>
              <a:t>Lalith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3625" y="4564260"/>
            <a:ext cx="2000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59669"/>
                </a:solidFill>
                <a:latin typeface="Lato"/>
              </a:rPr>
              <a:t>2410040140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5875" y="4268985"/>
            <a:ext cx="2000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oppins SemiBold"/>
              </a:rPr>
              <a:t>Subrahmanyam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875" y="4564260"/>
            <a:ext cx="2000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59669"/>
                </a:solidFill>
                <a:latin typeface="Lato"/>
              </a:rPr>
              <a:t>2410040108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8125" y="4268985"/>
            <a:ext cx="2000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oppins SemiBold"/>
              </a:rPr>
              <a:t>Pavan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8125" y="4564260"/>
            <a:ext cx="2000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59669"/>
                </a:solidFill>
                <a:latin typeface="Lato"/>
              </a:rPr>
              <a:t>2400040224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4E3B"/>
                </a:solidFill>
                <a:latin typeface="Poppins"/>
              </a:rPr>
              <a:t>Farming Meets Climate 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1442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2214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65F46"/>
                </a:solidFill>
                <a:latin typeface="Poppins SemiBold"/>
              </a:rPr>
              <a:t>Introduction &amp;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50765"/>
            <a:ext cx="5334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Water is becoming scarcer, weather patterns are less predictable, and skilled agricultural labor is thin on the ground. Precise, always-on environmental control is no longer optional.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56413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Water Conservation: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Irrigate strictly on evidence, not rigid timer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26898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Climate Variability: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Sense micro-climate shifts and react within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97383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Labor Efficiency: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Autonomous sensing nodes replace tedious manual checks.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8423"/>
            <a:ext cx="16192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83273"/>
            <a:ext cx="23812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88123"/>
            <a:ext cx="266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9362"/>
            <a:ext cx="5334000" cy="276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19362"/>
            <a:ext cx="5334000" cy="2762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14637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414712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65F46"/>
                </a:solidFill>
                <a:latin typeface="Poppins SemiBold"/>
              </a:rPr>
              <a:t>STM32 Edge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43337"/>
            <a:ext cx="4743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Processes real-time streams from DHT and soil-moisture sensors directly on-device. Eliminates cloud round-trip latency in critical control loops, ensuring ultra-fast, robust decision-making.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814637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1775" y="3414712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65F46"/>
                </a:solidFill>
                <a:latin typeface="Poppins SemiBold"/>
              </a:rPr>
              <a:t>2-Channel Actuator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843337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Directly drives a 2-channel relay module to switch a cooling fan and high-capacity water pump ON/OFF dynamically based on local Edge-AI model inference.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938462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887" y="2938462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4E3B"/>
                </a:solidFill>
                <a:latin typeface="Poppins"/>
              </a:rPr>
              <a:t>Edge-AI Microcontroller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795462"/>
            <a:ext cx="11049000" cy="42100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795462"/>
          <a:ext cx="11039474" cy="421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03858"/>
                <a:gridCol w="2759868"/>
                <a:gridCol w="7175748"/>
              </a:tblGrid>
              <a:tr h="7016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No.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Functional Role in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2-Channel Relay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Switches fan and water pump power ON/OFF based on STM32 decisions — the muscle of the node.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Cooling Fan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Regulates canopy temperature and airflow to prevent heat stress and fungal build-up.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Water Pump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Delivers precisely-timed irrigation, triggered only when soil moisture drops below threshold.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DHT Sensor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Reads ambient temperature and relative humidity, feeding the microclimate inference model.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Soil Moisture Probe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Measures volumetric water content in the root zone — the primary irrigation trigger signal.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362200"/>
            <a:ext cx="1103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0120" y="236220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9989" y="2362200"/>
            <a:ext cx="7175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262" y="3190875"/>
            <a:ext cx="1103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0120" y="319087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9989" y="3190875"/>
            <a:ext cx="7175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3762375"/>
            <a:ext cx="1103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80120" y="376237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9989" y="3762375"/>
            <a:ext cx="7175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262" y="4591050"/>
            <a:ext cx="1103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80120" y="459105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9989" y="4591050"/>
            <a:ext cx="7175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262" y="5419725"/>
            <a:ext cx="1103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80120" y="541972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9989" y="5419725"/>
            <a:ext cx="7175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262" y="5991225"/>
            <a:ext cx="1103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0120" y="599122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9989" y="5991225"/>
            <a:ext cx="7175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4E3B"/>
                </a:solidFill>
                <a:latin typeface="Poppins"/>
              </a:rPr>
              <a:t>Hardware Components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76737"/>
            <a:ext cx="2541240" cy="155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52662"/>
            <a:ext cx="2541240" cy="1552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376737"/>
            <a:ext cx="2541240" cy="1552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52662"/>
            <a:ext cx="2541240" cy="15525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0719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990" y="4538662"/>
            <a:ext cx="23282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59669"/>
                </a:solidFill>
                <a:latin typeface="Poppins SemiBold"/>
              </a:rPr>
              <a:t>01.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881562"/>
            <a:ext cx="221739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Sensors (DHT + Soil Moisture probe) sample microclimate data at 1 Hz frequency.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414587"/>
            <a:ext cx="23282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59669"/>
                </a:solidFill>
                <a:latin typeface="Poppins SemiBold"/>
              </a:rPr>
              <a:t>02. Infer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757487"/>
            <a:ext cx="221739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STM32 runs on-device Edge-AI model (threshold &amp; trend analysis) every loop 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538662"/>
            <a:ext cx="23282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59669"/>
                </a:solidFill>
                <a:latin typeface="Poppins SemiBold"/>
              </a:rPr>
              <a:t>03.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881562"/>
            <a:ext cx="221739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STM32 signals 2-Channel Relay (Relay CH1 for Fan, Relay CH2 for Pump).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414587"/>
            <a:ext cx="23282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59669"/>
                </a:solidFill>
                <a:latin typeface="Poppins SemiBold"/>
              </a:rPr>
              <a:t>04. Actuate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757487"/>
            <a:ext cx="221739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Microclimate adjusted in real-time; telemetry data logged for analytics.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4E3B"/>
                </a:solidFill>
                <a:latin typeface="Poppins"/>
              </a:rPr>
              <a:t>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27820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3740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99659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35579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4E3B"/>
                </a:solidFill>
                <a:latin typeface="Poppins"/>
              </a:rPr>
              <a:t>Outlook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1442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4119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65F46"/>
                </a:solidFill>
                <a:latin typeface="Poppins SemiBold"/>
              </a:rPr>
              <a:t>A Small Board. A Bigger Harvest.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69815"/>
            <a:ext cx="5334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STM32 turns off-the-shelf sensors and actuators into a self-governing agricultural node — enabling smarter irrigation, healthier crop yield, and minimal resource waste.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54508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Prototype Refinement: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Optimizing firmware, custom PCB layout, and IP67 weather-proof enclosure.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24993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Field Testing: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Extensive validation across diverse crop types and seasonal climate extremes.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95478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Lato"/>
              </a:rPr>
              <a:t>Mesh Scaling: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Deploying multi-node wireless mesh networks for full-farm coverage.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59373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64223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69073"/>
            <a:ext cx="266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037" y="3786187"/>
            <a:ext cx="171450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7" y="3786187"/>
            <a:ext cx="2400300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837" y="3786187"/>
            <a:ext cx="1762125" cy="390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75" y="2005012"/>
            <a:ext cx="116014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64E3B"/>
                </a:solidFill>
                <a:latin typeface="Poppins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62287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047857"/>
                </a:solidFill>
                <a:latin typeface="Lato"/>
              </a:rPr>
              <a:t>Any Questions or Feedback?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510087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Lato"/>
              </a:rPr>
              <a:t>IoT Embedded Systems Project • STM32 Edge-AI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4262" y="3890962"/>
            <a:ext cx="857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59669"/>
                </a:solidFill>
                <a:latin typeface="Lato SemiBold"/>
              </a:rPr>
              <a:t>2410040140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5062" y="3890962"/>
            <a:ext cx="857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59669"/>
                </a:solidFill>
                <a:latin typeface="Lato SemiBold"/>
              </a:rPr>
              <a:t>2410040108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7687" y="3890962"/>
            <a:ext cx="857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59669"/>
                </a:solidFill>
                <a:latin typeface="Lato SemiBold"/>
              </a:rPr>
              <a:t>2400040224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85950" y="3133725"/>
            <a:ext cx="84201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85950" y="3895725"/>
            <a:ext cx="8420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85950" y="3895725"/>
            <a:ext cx="8420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3276600"/>
            <a:ext cx="1066800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81325" y="3283743"/>
            <a:ext cx="73247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https://images.stockcake.com/public/a/1/6/a1655247-3eea-4e09-96d9-fe5f0d8dd95f_medium/sunrise-over-fields-stockcake.jpg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325" y="3517106"/>
            <a:ext cx="7324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stockcake.com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40481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81325" y="4055268"/>
            <a:ext cx="73247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https://images.stockcake.com/public/e/0/8/e08f086e-cad0-45a9-b1e0-b25ab8db7227_large/sprouting-plant-watered-stockcake.jpg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1325" y="4288631"/>
            <a:ext cx="7324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stockcake.com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4E3B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